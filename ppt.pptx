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Krabuler" panose="020B0604020202020204" charset="0"/>
      <p:regular r:id="rId13"/>
    </p:embeddedFont>
    <p:embeddedFont>
      <p:font typeface="Times New Roman Bold" panose="02020803070505020304" pitchFamily="18"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322" autoAdjust="0"/>
    <p:restoredTop sz="94622" autoAdjust="0"/>
  </p:normalViewPr>
  <p:slideViewPr>
    <p:cSldViewPr>
      <p:cViewPr>
        <p:scale>
          <a:sx n="43" d="100"/>
          <a:sy n="43" d="100"/>
        </p:scale>
        <p:origin x="1096" y="1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www.apachefriends.org/download_success.html"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a:off x="1028700" y="91400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373132" y="4114076"/>
            <a:ext cx="12198237" cy="2291464"/>
            <a:chOff x="0" y="0"/>
            <a:chExt cx="3212705" cy="603513"/>
          </a:xfrm>
        </p:grpSpPr>
        <p:sp>
          <p:nvSpPr>
            <p:cNvPr id="4" name="Freeform 4"/>
            <p:cNvSpPr/>
            <p:nvPr/>
          </p:nvSpPr>
          <p:spPr>
            <a:xfrm>
              <a:off x="0" y="0"/>
              <a:ext cx="3212704" cy="603513"/>
            </a:xfrm>
            <a:custGeom>
              <a:avLst/>
              <a:gdLst/>
              <a:ahLst/>
              <a:cxnLst/>
              <a:rect l="l" t="t" r="r" b="b"/>
              <a:pathLst>
                <a:path w="3212704" h="603513">
                  <a:moveTo>
                    <a:pt x="0" y="0"/>
                  </a:moveTo>
                  <a:lnTo>
                    <a:pt x="3212704" y="0"/>
                  </a:lnTo>
                  <a:lnTo>
                    <a:pt x="3212704" y="603513"/>
                  </a:lnTo>
                  <a:lnTo>
                    <a:pt x="0" y="603513"/>
                  </a:lnTo>
                  <a:close/>
                </a:path>
              </a:pathLst>
            </a:custGeom>
            <a:solidFill>
              <a:srgbClr val="FFFEFE"/>
            </a:solidFill>
          </p:spPr>
        </p:sp>
        <p:sp>
          <p:nvSpPr>
            <p:cNvPr id="5" name="TextBox 5"/>
            <p:cNvSpPr txBox="1"/>
            <p:nvPr/>
          </p:nvSpPr>
          <p:spPr>
            <a:xfrm>
              <a:off x="0" y="-28575"/>
              <a:ext cx="3212705" cy="632088"/>
            </a:xfrm>
            <a:prstGeom prst="rect">
              <a:avLst/>
            </a:prstGeom>
          </p:spPr>
          <p:txBody>
            <a:bodyPr lIns="50800" tIns="50800" rIns="50800" bIns="50800" rtlCol="0" anchor="ctr"/>
            <a:lstStyle/>
            <a:p>
              <a:pPr algn="ctr">
                <a:lnSpc>
                  <a:spcPts val="2380"/>
                </a:lnSpc>
              </a:pPr>
              <a:endParaRPr/>
            </a:p>
          </p:txBody>
        </p:sp>
      </p:grpSp>
      <p:sp>
        <p:nvSpPr>
          <p:cNvPr id="6" name="Freeform 6"/>
          <p:cNvSpPr/>
          <p:nvPr/>
        </p:nvSpPr>
        <p:spPr>
          <a:xfrm>
            <a:off x="339292" y="236855"/>
            <a:ext cx="2819732" cy="2603093"/>
          </a:xfrm>
          <a:custGeom>
            <a:avLst/>
            <a:gdLst/>
            <a:ahLst/>
            <a:cxnLst/>
            <a:rect l="l" t="t" r="r" b="b"/>
            <a:pathLst>
              <a:path w="2819732" h="2603093">
                <a:moveTo>
                  <a:pt x="0" y="0"/>
                </a:moveTo>
                <a:lnTo>
                  <a:pt x="2819732" y="0"/>
                </a:lnTo>
                <a:lnTo>
                  <a:pt x="2819732" y="2603093"/>
                </a:lnTo>
                <a:lnTo>
                  <a:pt x="0" y="2603093"/>
                </a:lnTo>
                <a:lnTo>
                  <a:pt x="0" y="0"/>
                </a:lnTo>
                <a:close/>
              </a:path>
            </a:pathLst>
          </a:custGeom>
          <a:blipFill>
            <a:blip r:embed="rId4"/>
            <a:stretch>
              <a:fillRect l="-4740" t="-371" r="-3714"/>
            </a:stretch>
          </a:blipFill>
        </p:spPr>
      </p:sp>
      <p:sp>
        <p:nvSpPr>
          <p:cNvPr id="7" name="Freeform 7"/>
          <p:cNvSpPr/>
          <p:nvPr/>
        </p:nvSpPr>
        <p:spPr>
          <a:xfrm>
            <a:off x="1028700" y="5552888"/>
            <a:ext cx="7014196" cy="3996778"/>
          </a:xfrm>
          <a:custGeom>
            <a:avLst/>
            <a:gdLst/>
            <a:ahLst/>
            <a:cxnLst/>
            <a:rect l="l" t="t" r="r" b="b"/>
            <a:pathLst>
              <a:path w="7014196" h="3996778">
                <a:moveTo>
                  <a:pt x="0" y="0"/>
                </a:moveTo>
                <a:lnTo>
                  <a:pt x="7014196" y="0"/>
                </a:lnTo>
                <a:lnTo>
                  <a:pt x="7014196" y="3996778"/>
                </a:lnTo>
                <a:lnTo>
                  <a:pt x="0" y="3996778"/>
                </a:lnTo>
                <a:lnTo>
                  <a:pt x="0" y="0"/>
                </a:lnTo>
                <a:close/>
              </a:path>
            </a:pathLst>
          </a:custGeom>
          <a:blipFill>
            <a:blip r:embed="rId5"/>
            <a:stretch>
              <a:fillRect l="-4267" r="-4267"/>
            </a:stretch>
          </a:blipFill>
        </p:spPr>
      </p:sp>
      <p:sp>
        <p:nvSpPr>
          <p:cNvPr id="8" name="TextBox 8"/>
          <p:cNvSpPr txBox="1"/>
          <p:nvPr/>
        </p:nvSpPr>
        <p:spPr>
          <a:xfrm>
            <a:off x="3159024" y="502584"/>
            <a:ext cx="14562548" cy="673100"/>
          </a:xfrm>
          <a:prstGeom prst="rect">
            <a:avLst/>
          </a:prstGeom>
        </p:spPr>
        <p:txBody>
          <a:bodyPr lIns="0" tIns="0" rIns="0" bIns="0" rtlCol="0" anchor="t">
            <a:spAutoFit/>
          </a:bodyPr>
          <a:lstStyle/>
          <a:p>
            <a:pPr algn="ctr">
              <a:lnSpc>
                <a:spcPts val="4900"/>
              </a:lnSpc>
            </a:pPr>
            <a:r>
              <a:rPr lang="en-US" sz="3500">
                <a:solidFill>
                  <a:srgbClr val="000000"/>
                </a:solidFill>
                <a:latin typeface="Times New Roman Bold"/>
                <a:ea typeface="Times New Roman Bold"/>
                <a:cs typeface="Times New Roman Bold"/>
                <a:sym typeface="Times New Roman Bold"/>
              </a:rPr>
              <a:t>MALLA REDDY COLLEGE OF ENGINEERING AND TECHNOLOGY</a:t>
            </a:r>
          </a:p>
        </p:txBody>
      </p:sp>
      <p:sp>
        <p:nvSpPr>
          <p:cNvPr id="9" name="TextBox 9"/>
          <p:cNvSpPr txBox="1"/>
          <p:nvPr/>
        </p:nvSpPr>
        <p:spPr>
          <a:xfrm>
            <a:off x="4293652" y="1138294"/>
            <a:ext cx="10983973" cy="722630"/>
          </a:xfrm>
          <a:prstGeom prst="rect">
            <a:avLst/>
          </a:prstGeom>
        </p:spPr>
        <p:txBody>
          <a:bodyPr lIns="0" tIns="0" rIns="0" bIns="0" rtlCol="0" anchor="t">
            <a:spAutoFit/>
          </a:bodyPr>
          <a:lstStyle/>
          <a:p>
            <a:pPr algn="ctr">
              <a:lnSpc>
                <a:spcPts val="5319"/>
              </a:lnSpc>
            </a:pPr>
            <a:r>
              <a:rPr lang="en-US" sz="3799">
                <a:solidFill>
                  <a:srgbClr val="000000"/>
                </a:solidFill>
                <a:latin typeface="Times New Roman Bold"/>
                <a:ea typeface="Times New Roman Bold"/>
                <a:cs typeface="Times New Roman Bold"/>
                <a:sym typeface="Times New Roman Bold"/>
              </a:rPr>
              <a:t>Department of Information Technology</a:t>
            </a:r>
          </a:p>
        </p:txBody>
      </p:sp>
      <p:sp>
        <p:nvSpPr>
          <p:cNvPr id="10" name="TextBox 10"/>
          <p:cNvSpPr txBox="1"/>
          <p:nvPr/>
        </p:nvSpPr>
        <p:spPr>
          <a:xfrm>
            <a:off x="2781021" y="2336621"/>
            <a:ext cx="13238961" cy="2949567"/>
          </a:xfrm>
          <a:prstGeom prst="rect">
            <a:avLst/>
          </a:prstGeom>
        </p:spPr>
        <p:txBody>
          <a:bodyPr lIns="0" tIns="0" rIns="0" bIns="0" rtlCol="0" anchor="t">
            <a:spAutoFit/>
          </a:bodyPr>
          <a:lstStyle/>
          <a:p>
            <a:pPr algn="ctr">
              <a:lnSpc>
                <a:spcPts val="11200"/>
              </a:lnSpc>
            </a:pPr>
            <a:r>
              <a:rPr lang="en-US" sz="8000">
                <a:solidFill>
                  <a:srgbClr val="000000"/>
                </a:solidFill>
                <a:latin typeface="Times New Roman Bold"/>
                <a:ea typeface="Times New Roman Bold"/>
                <a:cs typeface="Times New Roman Bold"/>
                <a:sym typeface="Times New Roman Bold"/>
              </a:rPr>
              <a:t>FACULTY TIME TABLE MANAGEMENT SYSTEM </a:t>
            </a:r>
          </a:p>
        </p:txBody>
      </p:sp>
      <p:sp>
        <p:nvSpPr>
          <p:cNvPr id="11" name="TextBox 11"/>
          <p:cNvSpPr txBox="1"/>
          <p:nvPr/>
        </p:nvSpPr>
        <p:spPr>
          <a:xfrm>
            <a:off x="9144000" y="6146284"/>
            <a:ext cx="6934646" cy="3230251"/>
          </a:xfrm>
          <a:prstGeom prst="rect">
            <a:avLst/>
          </a:prstGeom>
        </p:spPr>
        <p:txBody>
          <a:bodyPr lIns="0" tIns="0" rIns="0" bIns="0" rtlCol="0" anchor="t">
            <a:spAutoFit/>
          </a:bodyPr>
          <a:lstStyle/>
          <a:p>
            <a:pPr algn="l">
              <a:lnSpc>
                <a:spcPts val="6229"/>
              </a:lnSpc>
              <a:spcBef>
                <a:spcPct val="0"/>
              </a:spcBef>
            </a:pPr>
            <a:r>
              <a:rPr lang="en-US" sz="4449">
                <a:solidFill>
                  <a:srgbClr val="000000"/>
                </a:solidFill>
                <a:latin typeface="Times New Roman Bold"/>
                <a:ea typeface="Times New Roman Bold"/>
                <a:cs typeface="Times New Roman Bold"/>
                <a:sym typeface="Times New Roman Bold"/>
              </a:rPr>
              <a:t>Batch-No: 03</a:t>
            </a:r>
          </a:p>
          <a:p>
            <a:pPr algn="l">
              <a:lnSpc>
                <a:spcPts val="6229"/>
              </a:lnSpc>
              <a:spcBef>
                <a:spcPct val="0"/>
              </a:spcBef>
            </a:pPr>
            <a:r>
              <a:rPr lang="en-US" sz="4449">
                <a:solidFill>
                  <a:srgbClr val="000000"/>
                </a:solidFill>
                <a:latin typeface="Times New Roman Bold"/>
                <a:ea typeface="Times New Roman Bold"/>
                <a:cs typeface="Times New Roman Bold"/>
                <a:sym typeface="Times New Roman Bold"/>
              </a:rPr>
              <a:t>P.Shashwathi-22N31A3342   </a:t>
            </a:r>
          </a:p>
          <a:p>
            <a:pPr algn="l">
              <a:lnSpc>
                <a:spcPts val="6229"/>
              </a:lnSpc>
              <a:spcBef>
                <a:spcPct val="0"/>
              </a:spcBef>
            </a:pPr>
            <a:r>
              <a:rPr lang="en-US" sz="4449">
                <a:solidFill>
                  <a:srgbClr val="000000"/>
                </a:solidFill>
                <a:latin typeface="Times New Roman Bold"/>
                <a:ea typeface="Times New Roman Bold"/>
                <a:cs typeface="Times New Roman Bold"/>
                <a:sym typeface="Times New Roman Bold"/>
              </a:rPr>
              <a:t>A.Mukesh-22N31A3303</a:t>
            </a:r>
          </a:p>
          <a:p>
            <a:pPr algn="l">
              <a:lnSpc>
                <a:spcPts val="6229"/>
              </a:lnSpc>
              <a:spcBef>
                <a:spcPct val="0"/>
              </a:spcBef>
            </a:pPr>
            <a:r>
              <a:rPr lang="en-US" sz="4449">
                <a:solidFill>
                  <a:srgbClr val="000000"/>
                </a:solidFill>
                <a:latin typeface="Times New Roman Bold"/>
                <a:ea typeface="Times New Roman Bold"/>
                <a:cs typeface="Times New Roman Bold"/>
                <a:sym typeface="Times New Roman Bold"/>
              </a:rPr>
              <a:t>B.Sai ram-22N31A3308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Freeform 2"/>
          <p:cNvSpPr/>
          <p:nvPr/>
        </p:nvSpPr>
        <p:spPr>
          <a:xfrm rot="5400000">
            <a:off x="6288608" y="849567"/>
            <a:ext cx="6927975" cy="8739418"/>
          </a:xfrm>
          <a:custGeom>
            <a:avLst/>
            <a:gdLst/>
            <a:ahLst/>
            <a:cxnLst/>
            <a:rect l="l" t="t" r="r" b="b"/>
            <a:pathLst>
              <a:path w="6927975" h="8739418">
                <a:moveTo>
                  <a:pt x="0" y="0"/>
                </a:moveTo>
                <a:lnTo>
                  <a:pt x="6927974" y="0"/>
                </a:lnTo>
                <a:lnTo>
                  <a:pt x="6927974" y="8739418"/>
                </a:lnTo>
                <a:lnTo>
                  <a:pt x="0" y="87394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120756" y="1028700"/>
            <a:ext cx="4584113" cy="3975676"/>
          </a:xfrm>
          <a:custGeom>
            <a:avLst/>
            <a:gdLst/>
            <a:ahLst/>
            <a:cxnLst/>
            <a:rect l="l" t="t" r="r" b="b"/>
            <a:pathLst>
              <a:path w="4584113" h="3975676">
                <a:moveTo>
                  <a:pt x="0" y="0"/>
                </a:moveTo>
                <a:lnTo>
                  <a:pt x="4584113" y="0"/>
                </a:lnTo>
                <a:lnTo>
                  <a:pt x="4584113" y="3975676"/>
                </a:lnTo>
                <a:lnTo>
                  <a:pt x="0" y="39756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rot="-810814">
            <a:off x="2770122" y="2657570"/>
            <a:ext cx="3535128" cy="1085910"/>
          </a:xfrm>
          <a:prstGeom prst="rect">
            <a:avLst/>
          </a:prstGeom>
        </p:spPr>
        <p:txBody>
          <a:bodyPr lIns="0" tIns="0" rIns="0" bIns="0" rtlCol="0" anchor="t">
            <a:spAutoFit/>
          </a:bodyPr>
          <a:lstStyle/>
          <a:p>
            <a:pPr algn="l">
              <a:lnSpc>
                <a:spcPts val="8134"/>
              </a:lnSpc>
            </a:pPr>
            <a:r>
              <a:rPr lang="en-US" sz="8216" spc="180">
                <a:solidFill>
                  <a:srgbClr val="000000"/>
                </a:solidFill>
                <a:latin typeface="Krabuler"/>
                <a:ea typeface="Krabuler"/>
                <a:cs typeface="Krabuler"/>
                <a:sym typeface="Krabuler"/>
              </a:rPr>
              <a:t>Agenda</a:t>
            </a:r>
          </a:p>
        </p:txBody>
      </p:sp>
      <p:sp>
        <p:nvSpPr>
          <p:cNvPr id="5" name="TextBox 5"/>
          <p:cNvSpPr txBox="1"/>
          <p:nvPr/>
        </p:nvSpPr>
        <p:spPr>
          <a:xfrm>
            <a:off x="6777669" y="2259564"/>
            <a:ext cx="6481131" cy="5589479"/>
          </a:xfrm>
          <a:prstGeom prst="rect">
            <a:avLst/>
          </a:prstGeom>
        </p:spPr>
        <p:txBody>
          <a:bodyPr wrap="square" lIns="0" tIns="0" rIns="0" bIns="0" rtlCol="0" anchor="t">
            <a:spAutoFit/>
          </a:bodyPr>
          <a:lstStyle/>
          <a:p>
            <a:pPr marL="855317" lvl="1" indent="-427658" algn="l">
              <a:lnSpc>
                <a:spcPts val="5546"/>
              </a:lnSpc>
              <a:buAutoNum type="arabicPeriod"/>
            </a:pPr>
            <a:r>
              <a:rPr lang="en-US" sz="4100" dirty="0">
                <a:solidFill>
                  <a:srgbClr val="000000"/>
                </a:solidFill>
                <a:latin typeface="Times New Roman Bold"/>
                <a:ea typeface="Times New Roman Bold"/>
                <a:cs typeface="Times New Roman Bold"/>
                <a:sym typeface="Times New Roman Bold"/>
              </a:rPr>
              <a:t>Introduction</a:t>
            </a:r>
          </a:p>
          <a:p>
            <a:pPr marL="855317" lvl="1" indent="-427658" algn="l">
              <a:lnSpc>
                <a:spcPts val="5546"/>
              </a:lnSpc>
              <a:buAutoNum type="arabicPeriod"/>
            </a:pPr>
            <a:r>
              <a:rPr lang="en-US" sz="4100" dirty="0">
                <a:solidFill>
                  <a:srgbClr val="000000"/>
                </a:solidFill>
                <a:latin typeface="Times New Roman Bold"/>
                <a:ea typeface="Times New Roman Bold"/>
                <a:cs typeface="Times New Roman Bold"/>
                <a:sym typeface="Times New Roman Bold"/>
              </a:rPr>
              <a:t>Existing System</a:t>
            </a:r>
          </a:p>
          <a:p>
            <a:pPr marL="855317" lvl="1" indent="-427658" algn="l">
              <a:lnSpc>
                <a:spcPts val="5546"/>
              </a:lnSpc>
              <a:buAutoNum type="arabicPeriod"/>
            </a:pPr>
            <a:r>
              <a:rPr lang="en-US" sz="4100" dirty="0">
                <a:solidFill>
                  <a:srgbClr val="000000"/>
                </a:solidFill>
                <a:latin typeface="Times New Roman Bold"/>
                <a:ea typeface="Times New Roman Bold"/>
                <a:cs typeface="Times New Roman Bold"/>
                <a:sym typeface="Times New Roman Bold"/>
              </a:rPr>
              <a:t>Proposed System</a:t>
            </a:r>
          </a:p>
          <a:p>
            <a:pPr marL="855317" lvl="1" indent="-427658" algn="l">
              <a:lnSpc>
                <a:spcPts val="5546"/>
              </a:lnSpc>
              <a:buAutoNum type="arabicPeriod"/>
            </a:pPr>
            <a:r>
              <a:rPr lang="en-US" sz="4100" dirty="0">
                <a:solidFill>
                  <a:srgbClr val="000000"/>
                </a:solidFill>
                <a:latin typeface="Times New Roman Bold"/>
                <a:ea typeface="Times New Roman Bold"/>
                <a:cs typeface="Times New Roman Bold"/>
                <a:sym typeface="Times New Roman Bold"/>
              </a:rPr>
              <a:t>System Requirements</a:t>
            </a:r>
          </a:p>
          <a:p>
            <a:pPr marL="855317" lvl="1" indent="-427658" algn="l">
              <a:lnSpc>
                <a:spcPts val="5546"/>
              </a:lnSpc>
              <a:buAutoNum type="arabicPeriod"/>
            </a:pPr>
            <a:r>
              <a:rPr lang="en-US" sz="4100" dirty="0">
                <a:solidFill>
                  <a:srgbClr val="000000"/>
                </a:solidFill>
                <a:latin typeface="Times New Roman Bold"/>
                <a:ea typeface="Times New Roman Bold"/>
                <a:cs typeface="Times New Roman Bold"/>
                <a:sym typeface="Times New Roman Bold"/>
              </a:rPr>
              <a:t>Software Requirements</a:t>
            </a:r>
          </a:p>
          <a:p>
            <a:pPr marL="855317" lvl="1" indent="-427658" algn="l">
              <a:lnSpc>
                <a:spcPts val="5546"/>
              </a:lnSpc>
              <a:buAutoNum type="arabicPeriod"/>
            </a:pPr>
            <a:r>
              <a:rPr lang="en-US" sz="4100" dirty="0">
                <a:solidFill>
                  <a:srgbClr val="000000"/>
                </a:solidFill>
                <a:latin typeface="Times New Roman Bold"/>
                <a:ea typeface="Times New Roman Bold"/>
                <a:cs typeface="Times New Roman Bold"/>
                <a:sym typeface="Times New Roman Bold"/>
              </a:rPr>
              <a:t>Hardware Requirements</a:t>
            </a:r>
          </a:p>
          <a:p>
            <a:pPr marL="855317" lvl="1" indent="-427658" algn="l">
              <a:lnSpc>
                <a:spcPts val="5546"/>
              </a:lnSpc>
              <a:buAutoNum type="arabicPeriod"/>
            </a:pPr>
            <a:r>
              <a:rPr lang="en-US" sz="4100" dirty="0">
                <a:solidFill>
                  <a:srgbClr val="000000"/>
                </a:solidFill>
                <a:latin typeface="Times New Roman Bold"/>
                <a:ea typeface="Times New Roman Bold"/>
                <a:cs typeface="Times New Roman Bold"/>
                <a:sym typeface="Times New Roman Bold"/>
              </a:rPr>
              <a:t>Application Description</a:t>
            </a:r>
          </a:p>
          <a:p>
            <a:pPr marL="855317" lvl="1" indent="-427658" algn="l">
              <a:lnSpc>
                <a:spcPts val="5546"/>
              </a:lnSpc>
              <a:buAutoNum type="arabicPeriod"/>
            </a:pPr>
            <a:r>
              <a:rPr lang="en-US" sz="4100" dirty="0">
                <a:solidFill>
                  <a:srgbClr val="000000"/>
                </a:solidFill>
                <a:latin typeface="Times New Roman Bold"/>
                <a:ea typeface="Times New Roman Bold"/>
                <a:cs typeface="Times New Roman Bold"/>
                <a:sym typeface="Times New Roman Bold"/>
              </a:rPr>
              <a:t>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TextBox 2"/>
          <p:cNvSpPr txBox="1"/>
          <p:nvPr/>
        </p:nvSpPr>
        <p:spPr>
          <a:xfrm>
            <a:off x="1028700" y="231597"/>
            <a:ext cx="9494800" cy="1750696"/>
          </a:xfrm>
          <a:prstGeom prst="rect">
            <a:avLst/>
          </a:prstGeom>
        </p:spPr>
        <p:txBody>
          <a:bodyPr lIns="0" tIns="0" rIns="0" bIns="0" rtlCol="0" anchor="t">
            <a:spAutoFit/>
          </a:bodyPr>
          <a:lstStyle/>
          <a:p>
            <a:pPr algn="l">
              <a:lnSpc>
                <a:spcPts val="13199"/>
              </a:lnSpc>
            </a:pPr>
            <a:r>
              <a:rPr lang="en-US" sz="8799">
                <a:solidFill>
                  <a:srgbClr val="000000"/>
                </a:solidFill>
                <a:latin typeface="Times New Roman Bold"/>
                <a:ea typeface="Times New Roman Bold"/>
                <a:cs typeface="Times New Roman Bold"/>
                <a:sym typeface="Times New Roman Bold"/>
              </a:rPr>
              <a:t>INTRODUCTION</a:t>
            </a:r>
          </a:p>
        </p:txBody>
      </p:sp>
      <p:sp>
        <p:nvSpPr>
          <p:cNvPr id="3" name="TextBox 3"/>
          <p:cNvSpPr txBox="1"/>
          <p:nvPr/>
        </p:nvSpPr>
        <p:spPr>
          <a:xfrm>
            <a:off x="9139238" y="4499927"/>
            <a:ext cx="9525" cy="1030605"/>
          </a:xfrm>
          <a:prstGeom prst="rect">
            <a:avLst/>
          </a:prstGeom>
        </p:spPr>
        <p:txBody>
          <a:bodyPr lIns="0" tIns="0" rIns="0" bIns="0" rtlCol="0" anchor="t">
            <a:spAutoFit/>
          </a:bodyPr>
          <a:lstStyle/>
          <a:p>
            <a:pPr algn="ctr">
              <a:lnSpc>
                <a:spcPts val="7799"/>
              </a:lnSpc>
            </a:pPr>
            <a:endParaRPr/>
          </a:p>
        </p:txBody>
      </p:sp>
      <p:sp>
        <p:nvSpPr>
          <p:cNvPr id="4" name="TextBox 4"/>
          <p:cNvSpPr txBox="1"/>
          <p:nvPr/>
        </p:nvSpPr>
        <p:spPr>
          <a:xfrm>
            <a:off x="4762" y="2239959"/>
            <a:ext cx="18288000" cy="6811297"/>
          </a:xfrm>
          <a:prstGeom prst="rect">
            <a:avLst/>
          </a:prstGeom>
        </p:spPr>
        <p:txBody>
          <a:bodyPr lIns="0" tIns="0" rIns="0" bIns="0" rtlCol="0" anchor="t">
            <a:spAutoFit/>
          </a:bodyPr>
          <a:lstStyle/>
          <a:p>
            <a:pPr marL="858374" lvl="1" indent="-429187" algn="l">
              <a:lnSpc>
                <a:spcPts val="5963"/>
              </a:lnSpc>
              <a:buFont typeface="Arial"/>
              <a:buChar char="•"/>
            </a:pPr>
            <a:r>
              <a:rPr lang="en-US" sz="3975">
                <a:solidFill>
                  <a:srgbClr val="000000"/>
                </a:solidFill>
                <a:latin typeface="Times New Roman"/>
                <a:ea typeface="Times New Roman"/>
                <a:cs typeface="Times New Roman"/>
                <a:sym typeface="Times New Roman"/>
              </a:rPr>
              <a:t>Faculty time table management system is a web based Application designed to streamline and optimize the scheduling process for academic institutions.</a:t>
            </a:r>
          </a:p>
          <a:p>
            <a:pPr marL="858374" lvl="1" indent="-429187" algn="l">
              <a:lnSpc>
                <a:spcPts val="5963"/>
              </a:lnSpc>
              <a:buFont typeface="Arial"/>
              <a:buChar char="•"/>
            </a:pPr>
            <a:r>
              <a:rPr lang="en-US" sz="3975">
                <a:solidFill>
                  <a:srgbClr val="000000"/>
                </a:solidFill>
                <a:latin typeface="Times New Roman"/>
                <a:ea typeface="Times New Roman"/>
                <a:cs typeface="Times New Roman"/>
                <a:sym typeface="Times New Roman"/>
              </a:rPr>
              <a:t>The system caters to two main user roles: </a:t>
            </a:r>
          </a:p>
          <a:p>
            <a:pPr algn="l">
              <a:lnSpc>
                <a:spcPts val="5963"/>
              </a:lnSpc>
            </a:pPr>
            <a:r>
              <a:rPr lang="en-US" sz="3975">
                <a:solidFill>
                  <a:srgbClr val="000000"/>
                </a:solidFill>
                <a:latin typeface="Times New Roman"/>
                <a:ea typeface="Times New Roman"/>
                <a:cs typeface="Times New Roman"/>
                <a:sym typeface="Times New Roman"/>
              </a:rPr>
              <a:t>       -&gt; Head of Departments (HODs)</a:t>
            </a:r>
          </a:p>
          <a:p>
            <a:pPr algn="l">
              <a:lnSpc>
                <a:spcPts val="5963"/>
              </a:lnSpc>
            </a:pPr>
            <a:r>
              <a:rPr lang="en-US" sz="3975">
                <a:solidFill>
                  <a:srgbClr val="000000"/>
                </a:solidFill>
                <a:latin typeface="Times New Roman"/>
                <a:ea typeface="Times New Roman"/>
                <a:cs typeface="Times New Roman"/>
                <a:sym typeface="Times New Roman"/>
              </a:rPr>
              <a:t>       -&gt; Faculty Members</a:t>
            </a:r>
          </a:p>
          <a:p>
            <a:pPr marL="858374" lvl="1" indent="-429187" algn="l">
              <a:lnSpc>
                <a:spcPts val="5963"/>
              </a:lnSpc>
              <a:buFont typeface="Arial"/>
              <a:buChar char="•"/>
            </a:pPr>
            <a:r>
              <a:rPr lang="en-US" sz="3975">
                <a:solidFill>
                  <a:srgbClr val="000000"/>
                </a:solidFill>
                <a:latin typeface="Times New Roman"/>
                <a:ea typeface="Times New Roman"/>
                <a:cs typeface="Times New Roman"/>
                <a:sym typeface="Times New Roman"/>
              </a:rPr>
              <a:t> The system streamlines faculty schedules and bring up collaboration among HODs and staff. FTTMS aims to improve efficiency and communication within academic institutions by providing a centralized platform for managing faculty timetables.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TextBox 3"/>
          <p:cNvSpPr txBox="1"/>
          <p:nvPr/>
        </p:nvSpPr>
        <p:spPr>
          <a:xfrm>
            <a:off x="1028700" y="771525"/>
            <a:ext cx="8067229" cy="1244588"/>
          </a:xfrm>
          <a:prstGeom prst="rect">
            <a:avLst/>
          </a:prstGeom>
        </p:spPr>
        <p:txBody>
          <a:bodyPr lIns="0" tIns="0" rIns="0" bIns="0" rtlCol="0" anchor="t">
            <a:spAutoFit/>
          </a:bodyPr>
          <a:lstStyle/>
          <a:p>
            <a:pPr algn="ctr">
              <a:lnSpc>
                <a:spcPts val="9100"/>
              </a:lnSpc>
            </a:pPr>
            <a:r>
              <a:rPr lang="en-US" sz="6500">
                <a:solidFill>
                  <a:srgbClr val="000000"/>
                </a:solidFill>
                <a:latin typeface="Times New Roman"/>
                <a:ea typeface="Times New Roman"/>
                <a:cs typeface="Times New Roman"/>
                <a:sym typeface="Times New Roman"/>
              </a:rPr>
              <a:t>EXISTING SYSTEM </a:t>
            </a:r>
          </a:p>
        </p:txBody>
      </p:sp>
      <p:sp>
        <p:nvSpPr>
          <p:cNvPr id="4" name="TextBox 4"/>
          <p:cNvSpPr txBox="1"/>
          <p:nvPr/>
        </p:nvSpPr>
        <p:spPr>
          <a:xfrm>
            <a:off x="1028700" y="2423472"/>
            <a:ext cx="16105971" cy="2951955"/>
          </a:xfrm>
          <a:prstGeom prst="rect">
            <a:avLst/>
          </a:prstGeom>
        </p:spPr>
        <p:txBody>
          <a:bodyPr lIns="0" tIns="0" rIns="0" bIns="0" rtlCol="0" anchor="t">
            <a:spAutoFit/>
          </a:bodyPr>
          <a:lstStyle/>
          <a:p>
            <a:pPr algn="just">
              <a:lnSpc>
                <a:spcPts val="7604"/>
              </a:lnSpc>
            </a:pPr>
            <a:r>
              <a:rPr lang="en-US" sz="5069">
                <a:solidFill>
                  <a:srgbClr val="000000"/>
                </a:solidFill>
                <a:latin typeface="Times New Roman"/>
                <a:ea typeface="Times New Roman"/>
                <a:cs typeface="Times New Roman"/>
                <a:sym typeface="Times New Roman"/>
              </a:rPr>
              <a:t>The existing system for Faculty Time Table Management System (FTTMS) typically involves manual processes or outdated  software solutions.</a:t>
            </a:r>
          </a:p>
        </p:txBody>
      </p:sp>
      <p:pic>
        <p:nvPicPr>
          <p:cNvPr id="3074" name="Picture 2" descr="Different types of timetables that can be managed perfectly with school ERP">
            <a:extLst>
              <a:ext uri="{FF2B5EF4-FFF2-40B4-BE49-F238E27FC236}">
                <a16:creationId xmlns:a16="http://schemas.microsoft.com/office/drawing/2014/main" id="{7C7C730B-8814-4474-8B17-A6BA8FA7DC6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1600" y="5762407"/>
            <a:ext cx="6532758" cy="41267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TextBox 2"/>
          <p:cNvSpPr txBox="1"/>
          <p:nvPr/>
        </p:nvSpPr>
        <p:spPr>
          <a:xfrm>
            <a:off x="1227740" y="790575"/>
            <a:ext cx="13501904" cy="2254528"/>
          </a:xfrm>
          <a:prstGeom prst="rect">
            <a:avLst/>
          </a:prstGeom>
        </p:spPr>
        <p:txBody>
          <a:bodyPr lIns="0" tIns="0" rIns="0" bIns="0" rtlCol="0" anchor="t">
            <a:spAutoFit/>
          </a:bodyPr>
          <a:lstStyle/>
          <a:p>
            <a:pPr algn="l">
              <a:lnSpc>
                <a:spcPts val="8559"/>
              </a:lnSpc>
            </a:pPr>
            <a:r>
              <a:rPr lang="en-US" sz="6114">
                <a:solidFill>
                  <a:srgbClr val="000000"/>
                </a:solidFill>
                <a:latin typeface="Times New Roman Bold"/>
                <a:ea typeface="Times New Roman Bold"/>
                <a:cs typeface="Times New Roman Bold"/>
                <a:sym typeface="Times New Roman Bold"/>
              </a:rPr>
              <a:t>LIMITATIONS OF EXISTING SYSTEM</a:t>
            </a:r>
          </a:p>
        </p:txBody>
      </p:sp>
      <p:sp>
        <p:nvSpPr>
          <p:cNvPr id="3" name="TextBox 3"/>
          <p:cNvSpPr txBox="1"/>
          <p:nvPr/>
        </p:nvSpPr>
        <p:spPr>
          <a:xfrm>
            <a:off x="1028700" y="3477794"/>
            <a:ext cx="13376077" cy="4696517"/>
          </a:xfrm>
          <a:prstGeom prst="rect">
            <a:avLst/>
          </a:prstGeom>
        </p:spPr>
        <p:txBody>
          <a:bodyPr lIns="0" tIns="0" rIns="0" bIns="0" rtlCol="0" anchor="t">
            <a:spAutoFit/>
          </a:bodyPr>
          <a:lstStyle/>
          <a:p>
            <a:pPr marL="1127597" lvl="1" indent="-563799" algn="l">
              <a:lnSpc>
                <a:spcPts val="7311"/>
              </a:lnSpc>
              <a:buFont typeface="Arial"/>
              <a:buChar char="•"/>
            </a:pPr>
            <a:r>
              <a:rPr lang="en-US" sz="5222">
                <a:solidFill>
                  <a:srgbClr val="000000"/>
                </a:solidFill>
                <a:latin typeface="Times New Roman"/>
                <a:ea typeface="Times New Roman"/>
                <a:cs typeface="Times New Roman"/>
                <a:sym typeface="Times New Roman"/>
              </a:rPr>
              <a:t>Manual Scheduling </a:t>
            </a:r>
          </a:p>
          <a:p>
            <a:pPr marL="1127597" lvl="1" indent="-563799" algn="l">
              <a:lnSpc>
                <a:spcPts val="7311"/>
              </a:lnSpc>
              <a:buFont typeface="Arial"/>
              <a:buChar char="•"/>
            </a:pPr>
            <a:r>
              <a:rPr lang="en-US" sz="5222">
                <a:solidFill>
                  <a:srgbClr val="000000"/>
                </a:solidFill>
                <a:latin typeface="Times New Roman"/>
                <a:ea typeface="Times New Roman"/>
                <a:cs typeface="Times New Roman"/>
                <a:sym typeface="Times New Roman"/>
              </a:rPr>
              <a:t>Lack of Automation </a:t>
            </a:r>
          </a:p>
          <a:p>
            <a:pPr marL="1127597" lvl="1" indent="-563799" algn="l">
              <a:lnSpc>
                <a:spcPts val="7311"/>
              </a:lnSpc>
              <a:buFont typeface="Arial"/>
              <a:buChar char="•"/>
            </a:pPr>
            <a:r>
              <a:rPr lang="en-US" sz="5222">
                <a:solidFill>
                  <a:srgbClr val="000000"/>
                </a:solidFill>
                <a:latin typeface="Times New Roman"/>
                <a:ea typeface="Times New Roman"/>
                <a:cs typeface="Times New Roman"/>
                <a:sym typeface="Times New Roman"/>
              </a:rPr>
              <a:t>Limited Accessibility </a:t>
            </a:r>
          </a:p>
          <a:p>
            <a:pPr marL="1127597" lvl="1" indent="-563799" algn="l">
              <a:lnSpc>
                <a:spcPts val="7311"/>
              </a:lnSpc>
              <a:buFont typeface="Arial"/>
              <a:buChar char="•"/>
            </a:pPr>
            <a:r>
              <a:rPr lang="en-US" sz="5222">
                <a:solidFill>
                  <a:srgbClr val="000000"/>
                </a:solidFill>
                <a:latin typeface="Times New Roman"/>
                <a:ea typeface="Times New Roman"/>
                <a:cs typeface="Times New Roman"/>
                <a:sym typeface="Times New Roman"/>
              </a:rPr>
              <a:t>Limited Monitoring </a:t>
            </a:r>
          </a:p>
          <a:p>
            <a:pPr marL="1127597" lvl="1" indent="-563799" algn="l">
              <a:lnSpc>
                <a:spcPts val="7311"/>
              </a:lnSpc>
              <a:buFont typeface="Arial"/>
              <a:buChar char="•"/>
            </a:pPr>
            <a:r>
              <a:rPr lang="en-US" sz="5222">
                <a:solidFill>
                  <a:srgbClr val="000000"/>
                </a:solidFill>
                <a:latin typeface="Times New Roman"/>
                <a:ea typeface="Times New Roman"/>
                <a:cs typeface="Times New Roman"/>
                <a:sym typeface="Times New Roman"/>
              </a:rPr>
              <a:t>Difficulty for Data Entry and Management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p:cNvGrpSpPr/>
        <p:nvPr/>
      </p:nvGrpSpPr>
      <p:grpSpPr>
        <a:xfrm>
          <a:off x="0" y="0"/>
          <a:ext cx="0" cy="0"/>
          <a:chOff x="0" y="0"/>
          <a:chExt cx="0" cy="0"/>
        </a:xfrm>
      </p:grpSpPr>
      <p:sp>
        <p:nvSpPr>
          <p:cNvPr id="2" name="TextBox 2"/>
          <p:cNvSpPr txBox="1"/>
          <p:nvPr/>
        </p:nvSpPr>
        <p:spPr>
          <a:xfrm>
            <a:off x="2202295" y="676275"/>
            <a:ext cx="12258377" cy="1747519"/>
          </a:xfrm>
          <a:prstGeom prst="rect">
            <a:avLst/>
          </a:prstGeom>
        </p:spPr>
        <p:txBody>
          <a:bodyPr lIns="0" tIns="0" rIns="0" bIns="0" rtlCol="0" anchor="t">
            <a:spAutoFit/>
          </a:bodyPr>
          <a:lstStyle/>
          <a:p>
            <a:pPr algn="ctr">
              <a:lnSpc>
                <a:spcPts val="12880"/>
              </a:lnSpc>
            </a:pPr>
            <a:r>
              <a:rPr lang="en-US" sz="9200">
                <a:solidFill>
                  <a:srgbClr val="000000"/>
                </a:solidFill>
                <a:latin typeface="Times New Roman Bold"/>
                <a:ea typeface="Times New Roman Bold"/>
                <a:cs typeface="Times New Roman Bold"/>
                <a:sym typeface="Times New Roman Bold"/>
              </a:rPr>
              <a:t>PROPOSED SYSTEM </a:t>
            </a:r>
          </a:p>
        </p:txBody>
      </p:sp>
      <p:sp>
        <p:nvSpPr>
          <p:cNvPr id="3" name="TextBox 3"/>
          <p:cNvSpPr txBox="1"/>
          <p:nvPr/>
        </p:nvSpPr>
        <p:spPr>
          <a:xfrm>
            <a:off x="1028700" y="2933700"/>
            <a:ext cx="16230600" cy="3616325"/>
          </a:xfrm>
          <a:prstGeom prst="rect">
            <a:avLst/>
          </a:prstGeom>
        </p:spPr>
        <p:txBody>
          <a:bodyPr lIns="0" tIns="0" rIns="0" bIns="0" rtlCol="0" anchor="t">
            <a:spAutoFit/>
          </a:bodyPr>
          <a:lstStyle/>
          <a:p>
            <a:pPr algn="l">
              <a:lnSpc>
                <a:spcPts val="7000"/>
              </a:lnSpc>
            </a:pPr>
            <a:r>
              <a:rPr lang="en-US" sz="5000">
                <a:solidFill>
                  <a:srgbClr val="000000"/>
                </a:solidFill>
                <a:latin typeface="Times New Roman"/>
                <a:ea typeface="Times New Roman"/>
                <a:cs typeface="Times New Roman"/>
                <a:sym typeface="Times New Roman"/>
              </a:rPr>
              <a:t>The proposed system for Faculty Time Table Management  System (FTTMS) aims to address the limitations of existing system by introducing a comprehensive wed-based platform.</a:t>
            </a:r>
          </a:p>
        </p:txBody>
      </p:sp>
      <p:pic>
        <p:nvPicPr>
          <p:cNvPr id="2050" name="Picture 2" descr="Auto Timetable Generator (2024) - Scheduling Software Free Demo, Price,  Features, Review">
            <a:extLst>
              <a:ext uri="{FF2B5EF4-FFF2-40B4-BE49-F238E27FC236}">
                <a16:creationId xmlns:a16="http://schemas.microsoft.com/office/drawing/2014/main" id="{0E3FA771-3EC9-4B1A-81F1-96E85C65895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6156343"/>
            <a:ext cx="4267200" cy="36444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2" name="TextBox 2"/>
          <p:cNvSpPr txBox="1"/>
          <p:nvPr/>
        </p:nvSpPr>
        <p:spPr>
          <a:xfrm>
            <a:off x="1085255" y="1161385"/>
            <a:ext cx="16174045" cy="1261098"/>
          </a:xfrm>
          <a:prstGeom prst="rect">
            <a:avLst/>
          </a:prstGeom>
        </p:spPr>
        <p:txBody>
          <a:bodyPr lIns="0" tIns="0" rIns="0" bIns="0" rtlCol="0" anchor="t">
            <a:spAutoFit/>
          </a:bodyPr>
          <a:lstStyle/>
          <a:p>
            <a:pPr algn="l">
              <a:lnSpc>
                <a:spcPts val="9240"/>
              </a:lnSpc>
            </a:pPr>
            <a:r>
              <a:rPr lang="en-US" sz="6600">
                <a:solidFill>
                  <a:srgbClr val="000000"/>
                </a:solidFill>
                <a:latin typeface="Times New Roman Bold"/>
                <a:ea typeface="Times New Roman Bold"/>
                <a:cs typeface="Times New Roman Bold"/>
                <a:sym typeface="Times New Roman Bold"/>
              </a:rPr>
              <a:t>ADVANTAGES OF PROPOSED SYSTEM</a:t>
            </a:r>
          </a:p>
        </p:txBody>
      </p:sp>
      <p:sp>
        <p:nvSpPr>
          <p:cNvPr id="3" name="TextBox 3"/>
          <p:cNvSpPr txBox="1"/>
          <p:nvPr/>
        </p:nvSpPr>
        <p:spPr>
          <a:xfrm>
            <a:off x="1028700" y="2798094"/>
            <a:ext cx="12307639" cy="6076988"/>
          </a:xfrm>
          <a:prstGeom prst="rect">
            <a:avLst/>
          </a:prstGeom>
        </p:spPr>
        <p:txBody>
          <a:bodyPr lIns="0" tIns="0" rIns="0" bIns="0" rtlCol="0" anchor="t">
            <a:spAutoFit/>
          </a:bodyPr>
          <a:lstStyle/>
          <a:p>
            <a:pPr marL="1052187" lvl="1" indent="-526094" algn="l">
              <a:lnSpc>
                <a:spcPts val="6822"/>
              </a:lnSpc>
              <a:buFont typeface="Arial"/>
              <a:buChar char="•"/>
            </a:pPr>
            <a:r>
              <a:rPr lang="en-US" sz="4873">
                <a:solidFill>
                  <a:srgbClr val="000000"/>
                </a:solidFill>
                <a:latin typeface="Times New Roman"/>
                <a:ea typeface="Times New Roman"/>
                <a:cs typeface="Times New Roman"/>
                <a:sym typeface="Times New Roman"/>
              </a:rPr>
              <a:t>Automated Scheduling </a:t>
            </a:r>
          </a:p>
          <a:p>
            <a:pPr marL="1052187" lvl="1" indent="-526094" algn="l">
              <a:lnSpc>
                <a:spcPts val="6822"/>
              </a:lnSpc>
              <a:buFont typeface="Arial"/>
              <a:buChar char="•"/>
            </a:pPr>
            <a:r>
              <a:rPr lang="en-US" sz="4873">
                <a:solidFill>
                  <a:srgbClr val="000000"/>
                </a:solidFill>
                <a:latin typeface="Times New Roman"/>
                <a:ea typeface="Times New Roman"/>
                <a:cs typeface="Times New Roman"/>
                <a:sym typeface="Times New Roman"/>
              </a:rPr>
              <a:t>User-Friendly Interface </a:t>
            </a:r>
          </a:p>
          <a:p>
            <a:pPr marL="1052187" lvl="1" indent="-526094" algn="l">
              <a:lnSpc>
                <a:spcPts val="6822"/>
              </a:lnSpc>
              <a:buFont typeface="Arial"/>
              <a:buChar char="•"/>
            </a:pPr>
            <a:r>
              <a:rPr lang="en-US" sz="4873">
                <a:solidFill>
                  <a:srgbClr val="000000"/>
                </a:solidFill>
                <a:latin typeface="Times New Roman"/>
                <a:ea typeface="Times New Roman"/>
                <a:cs typeface="Times New Roman"/>
                <a:sym typeface="Times New Roman"/>
              </a:rPr>
              <a:t> Flexibility and Accessibility </a:t>
            </a:r>
          </a:p>
          <a:p>
            <a:pPr marL="1052187" lvl="1" indent="-526094" algn="l">
              <a:lnSpc>
                <a:spcPts val="6822"/>
              </a:lnSpc>
              <a:buFont typeface="Arial"/>
              <a:buChar char="•"/>
            </a:pPr>
            <a:r>
              <a:rPr lang="en-US" sz="4873">
                <a:solidFill>
                  <a:srgbClr val="000000"/>
                </a:solidFill>
                <a:latin typeface="Times New Roman"/>
                <a:ea typeface="Times New Roman"/>
                <a:cs typeface="Times New Roman"/>
                <a:sym typeface="Times New Roman"/>
              </a:rPr>
              <a:t>Real-time Communication</a:t>
            </a:r>
          </a:p>
          <a:p>
            <a:pPr marL="1052187" lvl="1" indent="-526094" algn="l">
              <a:lnSpc>
                <a:spcPts val="6822"/>
              </a:lnSpc>
              <a:buFont typeface="Arial"/>
              <a:buChar char="•"/>
            </a:pPr>
            <a:r>
              <a:rPr lang="en-US" sz="4873">
                <a:solidFill>
                  <a:srgbClr val="000000"/>
                </a:solidFill>
                <a:latin typeface="Times New Roman"/>
                <a:ea typeface="Times New Roman"/>
                <a:cs typeface="Times New Roman"/>
                <a:sym typeface="Times New Roman"/>
              </a:rPr>
              <a:t>Comprehensive Monitoring and oversight</a:t>
            </a:r>
          </a:p>
          <a:p>
            <a:pPr marL="1052187" lvl="1" indent="-526094" algn="l">
              <a:lnSpc>
                <a:spcPts val="6822"/>
              </a:lnSpc>
              <a:buFont typeface="Arial"/>
              <a:buChar char="•"/>
            </a:pPr>
            <a:r>
              <a:rPr lang="en-US" sz="4873">
                <a:solidFill>
                  <a:srgbClr val="000000"/>
                </a:solidFill>
                <a:latin typeface="Times New Roman"/>
                <a:ea typeface="Times New Roman"/>
                <a:cs typeface="Times New Roman"/>
                <a:sym typeface="Times New Roman"/>
              </a:rPr>
              <a:t>Enhance Data Security</a:t>
            </a:r>
          </a:p>
          <a:p>
            <a:pPr marL="1052187" lvl="1" indent="-526094" algn="l">
              <a:lnSpc>
                <a:spcPts val="6822"/>
              </a:lnSpc>
              <a:buFont typeface="Arial"/>
              <a:buChar char="•"/>
            </a:pPr>
            <a:r>
              <a:rPr lang="en-US" sz="4873">
                <a:solidFill>
                  <a:srgbClr val="000000"/>
                </a:solidFill>
                <a:latin typeface="Times New Roman"/>
                <a:ea typeface="Times New Roman"/>
                <a:cs typeface="Times New Roman"/>
                <a:sym typeface="Times New Roman"/>
              </a:rPr>
              <a:t>Streamlined Data Entry and Management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p:cNvGrpSpPr/>
        <p:nvPr/>
      </p:nvGrpSpPr>
      <p:grpSpPr>
        <a:xfrm>
          <a:off x="0" y="0"/>
          <a:ext cx="0" cy="0"/>
          <a:chOff x="0" y="0"/>
          <a:chExt cx="0" cy="0"/>
        </a:xfrm>
      </p:grpSpPr>
      <p:sp>
        <p:nvSpPr>
          <p:cNvPr id="2" name="TextBox 2"/>
          <p:cNvSpPr txBox="1"/>
          <p:nvPr/>
        </p:nvSpPr>
        <p:spPr>
          <a:xfrm>
            <a:off x="1488429" y="475807"/>
            <a:ext cx="14290625" cy="1479191"/>
          </a:xfrm>
          <a:prstGeom prst="rect">
            <a:avLst/>
          </a:prstGeom>
        </p:spPr>
        <p:txBody>
          <a:bodyPr lIns="0" tIns="0" rIns="0" bIns="0" rtlCol="0" anchor="t">
            <a:spAutoFit/>
          </a:bodyPr>
          <a:lstStyle/>
          <a:p>
            <a:pPr algn="ctr">
              <a:lnSpc>
                <a:spcPts val="10869"/>
              </a:lnSpc>
            </a:pPr>
            <a:r>
              <a:rPr lang="en-US" sz="7764">
                <a:solidFill>
                  <a:srgbClr val="000000"/>
                </a:solidFill>
                <a:latin typeface="Times New Roman Bold"/>
                <a:ea typeface="Times New Roman Bold"/>
                <a:cs typeface="Times New Roman Bold"/>
                <a:sym typeface="Times New Roman Bold"/>
              </a:rPr>
              <a:t>SOFTWARE REQUIREMENTS</a:t>
            </a:r>
          </a:p>
        </p:txBody>
      </p:sp>
      <p:sp>
        <p:nvSpPr>
          <p:cNvPr id="3" name="TextBox 3"/>
          <p:cNvSpPr txBox="1"/>
          <p:nvPr/>
        </p:nvSpPr>
        <p:spPr>
          <a:xfrm>
            <a:off x="1488429" y="2208763"/>
            <a:ext cx="14040502" cy="6526467"/>
          </a:xfrm>
          <a:prstGeom prst="rect">
            <a:avLst/>
          </a:prstGeom>
        </p:spPr>
        <p:txBody>
          <a:bodyPr lIns="0" tIns="0" rIns="0" bIns="0" rtlCol="0" anchor="t">
            <a:spAutoFit/>
          </a:bodyPr>
          <a:lstStyle/>
          <a:p>
            <a:pPr algn="just">
              <a:lnSpc>
                <a:spcPts val="8742"/>
              </a:lnSpc>
            </a:pPr>
            <a:r>
              <a:rPr lang="en-US" sz="5828" dirty="0">
                <a:solidFill>
                  <a:srgbClr val="000000"/>
                </a:solidFill>
                <a:latin typeface="Times New Roman"/>
                <a:ea typeface="Times New Roman"/>
                <a:cs typeface="Times New Roman"/>
                <a:sym typeface="Times New Roman"/>
              </a:rPr>
              <a:t>Operating system : Windows 11</a:t>
            </a:r>
          </a:p>
          <a:p>
            <a:pPr algn="just">
              <a:lnSpc>
                <a:spcPts val="8592"/>
              </a:lnSpc>
            </a:pPr>
            <a:r>
              <a:rPr lang="en-US" sz="5728" dirty="0">
                <a:solidFill>
                  <a:srgbClr val="000000"/>
                </a:solidFill>
                <a:latin typeface="Times New Roman"/>
                <a:ea typeface="Times New Roman"/>
                <a:cs typeface="Times New Roman"/>
                <a:sym typeface="Times New Roman"/>
              </a:rPr>
              <a:t>Frontend:</a:t>
            </a:r>
          </a:p>
          <a:p>
            <a:pPr marL="1236751" lvl="1" indent="-618375" algn="just">
              <a:lnSpc>
                <a:spcPts val="8592"/>
              </a:lnSpc>
              <a:buFont typeface="Arial"/>
              <a:buChar char="•"/>
            </a:pPr>
            <a:r>
              <a:rPr lang="en-US" sz="5728" dirty="0">
                <a:solidFill>
                  <a:srgbClr val="000000"/>
                </a:solidFill>
                <a:latin typeface="Times New Roman"/>
                <a:ea typeface="Times New Roman"/>
                <a:cs typeface="Times New Roman"/>
                <a:sym typeface="Times New Roman"/>
              </a:rPr>
              <a:t>HTML</a:t>
            </a:r>
          </a:p>
          <a:p>
            <a:pPr marL="1236751" lvl="1" indent="-618375" algn="just">
              <a:lnSpc>
                <a:spcPts val="8592"/>
              </a:lnSpc>
              <a:buFont typeface="Arial"/>
              <a:buChar char="•"/>
            </a:pPr>
            <a:r>
              <a:rPr lang="en-US" sz="5728" dirty="0">
                <a:solidFill>
                  <a:srgbClr val="000000"/>
                </a:solidFill>
                <a:latin typeface="Times New Roman"/>
                <a:ea typeface="Times New Roman"/>
                <a:cs typeface="Times New Roman"/>
                <a:sym typeface="Times New Roman"/>
              </a:rPr>
              <a:t>CSS</a:t>
            </a:r>
          </a:p>
          <a:p>
            <a:pPr marL="1236751" lvl="1" indent="-618375" algn="just">
              <a:lnSpc>
                <a:spcPts val="8592"/>
              </a:lnSpc>
              <a:buFont typeface="Arial"/>
              <a:buChar char="•"/>
            </a:pPr>
            <a:r>
              <a:rPr lang="en-US" sz="5728" dirty="0">
                <a:solidFill>
                  <a:srgbClr val="000000"/>
                </a:solidFill>
                <a:latin typeface="Times New Roman"/>
                <a:ea typeface="Times New Roman"/>
                <a:cs typeface="Times New Roman"/>
                <a:sym typeface="Times New Roman"/>
              </a:rPr>
              <a:t>Java Script</a:t>
            </a:r>
          </a:p>
          <a:p>
            <a:pPr marL="1236751" lvl="1" indent="-618375" algn="just">
              <a:lnSpc>
                <a:spcPts val="8592"/>
              </a:lnSpc>
              <a:buFont typeface="Arial"/>
              <a:buChar char="•"/>
            </a:pPr>
            <a:r>
              <a:rPr lang="en-US" sz="5728" dirty="0">
                <a:solidFill>
                  <a:srgbClr val="000000"/>
                </a:solidFill>
                <a:latin typeface="Times New Roman"/>
                <a:ea typeface="Times New Roman"/>
                <a:cs typeface="Times New Roman"/>
                <a:sym typeface="Times New Roman"/>
              </a:rPr>
              <a:t>PHP</a:t>
            </a:r>
          </a:p>
        </p:txBody>
      </p:sp>
      <p:sp>
        <p:nvSpPr>
          <p:cNvPr id="4" name="TextBox 4"/>
          <p:cNvSpPr txBox="1"/>
          <p:nvPr/>
        </p:nvSpPr>
        <p:spPr>
          <a:xfrm>
            <a:off x="8153400" y="3390900"/>
            <a:ext cx="4595515" cy="2839720"/>
          </a:xfrm>
          <a:prstGeom prst="rect">
            <a:avLst/>
          </a:prstGeom>
        </p:spPr>
        <p:txBody>
          <a:bodyPr lIns="0" tIns="0" rIns="0" bIns="0" rtlCol="0" anchor="t">
            <a:spAutoFit/>
          </a:bodyPr>
          <a:lstStyle/>
          <a:p>
            <a:pPr algn="ctr">
              <a:lnSpc>
                <a:spcPts val="7279"/>
              </a:lnSpc>
            </a:pPr>
            <a:r>
              <a:rPr lang="en-US" sz="5199" dirty="0">
                <a:solidFill>
                  <a:srgbClr val="000000"/>
                </a:solidFill>
                <a:latin typeface="Times New Roman"/>
                <a:ea typeface="Times New Roman"/>
                <a:cs typeface="Times New Roman"/>
                <a:sym typeface="Times New Roman"/>
              </a:rPr>
              <a:t>Backend:</a:t>
            </a:r>
          </a:p>
          <a:p>
            <a:pPr marL="1122679" lvl="1" indent="-561340" algn="ctr">
              <a:lnSpc>
                <a:spcPts val="7279"/>
              </a:lnSpc>
              <a:buFont typeface="Arial"/>
              <a:buChar char="•"/>
            </a:pPr>
            <a:r>
              <a:rPr lang="en-US" sz="5199" dirty="0">
                <a:solidFill>
                  <a:srgbClr val="000000"/>
                </a:solidFill>
                <a:latin typeface="Times New Roman"/>
                <a:ea typeface="Times New Roman"/>
                <a:cs typeface="Times New Roman"/>
                <a:sym typeface="Times New Roman"/>
              </a:rPr>
              <a:t>MySQL</a:t>
            </a:r>
          </a:p>
          <a:p>
            <a:pPr algn="ctr">
              <a:lnSpc>
                <a:spcPts val="7279"/>
              </a:lnSpc>
            </a:pPr>
            <a:r>
              <a:rPr lang="en-US" sz="5199" dirty="0">
                <a:solidFill>
                  <a:srgbClr val="000000"/>
                </a:solidFill>
                <a:latin typeface="Times New Roman"/>
                <a:ea typeface="Times New Roman"/>
                <a:cs typeface="Times New Roman"/>
                <a:sym typeface="Times New Roman"/>
              </a:rPr>
              <a:t>Server: XAMPP</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p:cNvGrpSpPr/>
        <p:nvPr/>
      </p:nvGrpSpPr>
      <p:grpSpPr>
        <a:xfrm>
          <a:off x="0" y="0"/>
          <a:ext cx="0" cy="0"/>
          <a:chOff x="0" y="0"/>
          <a:chExt cx="0" cy="0"/>
        </a:xfrm>
      </p:grpSpPr>
      <p:sp>
        <p:nvSpPr>
          <p:cNvPr id="2" name="TextBox 2"/>
          <p:cNvSpPr txBox="1"/>
          <p:nvPr/>
        </p:nvSpPr>
        <p:spPr>
          <a:xfrm>
            <a:off x="1006376" y="695325"/>
            <a:ext cx="16275248" cy="1622420"/>
          </a:xfrm>
          <a:prstGeom prst="rect">
            <a:avLst/>
          </a:prstGeom>
        </p:spPr>
        <p:txBody>
          <a:bodyPr lIns="0" tIns="0" rIns="0" bIns="0" rtlCol="0" anchor="t">
            <a:spAutoFit/>
          </a:bodyPr>
          <a:lstStyle/>
          <a:p>
            <a:pPr algn="ctr">
              <a:lnSpc>
                <a:spcPts val="11900"/>
              </a:lnSpc>
            </a:pPr>
            <a:r>
              <a:rPr lang="en-US" sz="8500">
                <a:solidFill>
                  <a:srgbClr val="000000"/>
                </a:solidFill>
                <a:latin typeface="Times New Roman Bold"/>
                <a:ea typeface="Times New Roman Bold"/>
                <a:cs typeface="Times New Roman Bold"/>
                <a:sym typeface="Times New Roman Bold"/>
              </a:rPr>
              <a:t>HARDWARE REQUIREMENTS </a:t>
            </a:r>
          </a:p>
        </p:txBody>
      </p:sp>
      <p:sp>
        <p:nvSpPr>
          <p:cNvPr id="3" name="TextBox 3"/>
          <p:cNvSpPr txBox="1"/>
          <p:nvPr/>
        </p:nvSpPr>
        <p:spPr>
          <a:xfrm>
            <a:off x="1242993" y="2924094"/>
            <a:ext cx="9208443" cy="3221888"/>
          </a:xfrm>
          <a:prstGeom prst="rect">
            <a:avLst/>
          </a:prstGeom>
        </p:spPr>
        <p:txBody>
          <a:bodyPr lIns="0" tIns="0" rIns="0" bIns="0" rtlCol="0" anchor="t">
            <a:spAutoFit/>
          </a:bodyPr>
          <a:lstStyle/>
          <a:p>
            <a:pPr algn="l">
              <a:lnSpc>
                <a:spcPts val="8265"/>
              </a:lnSpc>
            </a:pPr>
            <a:r>
              <a:rPr lang="en-US" sz="5904">
                <a:solidFill>
                  <a:srgbClr val="000000"/>
                </a:solidFill>
                <a:latin typeface="Times New Roman"/>
                <a:ea typeface="Times New Roman"/>
                <a:cs typeface="Times New Roman"/>
                <a:sym typeface="Times New Roman"/>
              </a:rPr>
              <a:t>Processor : Intel or AMD. </a:t>
            </a:r>
          </a:p>
          <a:p>
            <a:pPr algn="l">
              <a:lnSpc>
                <a:spcPts val="8265"/>
              </a:lnSpc>
            </a:pPr>
            <a:r>
              <a:rPr lang="en-US" sz="5904">
                <a:solidFill>
                  <a:srgbClr val="000000"/>
                </a:solidFill>
                <a:latin typeface="Times New Roman"/>
                <a:ea typeface="Times New Roman"/>
                <a:cs typeface="Times New Roman"/>
                <a:sym typeface="Times New Roman"/>
              </a:rPr>
              <a:t>RAM        : 8GB or above. </a:t>
            </a:r>
          </a:p>
          <a:p>
            <a:pPr algn="l">
              <a:lnSpc>
                <a:spcPts val="8265"/>
              </a:lnSpc>
            </a:pPr>
            <a:r>
              <a:rPr lang="en-US" sz="5904">
                <a:solidFill>
                  <a:srgbClr val="000000"/>
                </a:solidFill>
                <a:latin typeface="Times New Roman"/>
                <a:ea typeface="Times New Roman"/>
                <a:cs typeface="Times New Roman"/>
                <a:sym typeface="Times New Roman"/>
              </a:rPr>
              <a:t>Hard disk : 128GB or above.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p:cNvGrpSpPr/>
        <p:nvPr/>
      </p:nvGrpSpPr>
      <p:grpSpPr>
        <a:xfrm>
          <a:off x="0" y="0"/>
          <a:ext cx="0" cy="0"/>
          <a:chOff x="0" y="0"/>
          <a:chExt cx="0" cy="0"/>
        </a:xfrm>
      </p:grpSpPr>
      <p:sp>
        <p:nvSpPr>
          <p:cNvPr id="2" name="TextBox 2"/>
          <p:cNvSpPr txBox="1"/>
          <p:nvPr/>
        </p:nvSpPr>
        <p:spPr>
          <a:xfrm>
            <a:off x="1533153" y="714375"/>
            <a:ext cx="15221694" cy="1563363"/>
          </a:xfrm>
          <a:prstGeom prst="rect">
            <a:avLst/>
          </a:prstGeom>
        </p:spPr>
        <p:txBody>
          <a:bodyPr lIns="0" tIns="0" rIns="0" bIns="0" rtlCol="0" anchor="t">
            <a:spAutoFit/>
          </a:bodyPr>
          <a:lstStyle/>
          <a:p>
            <a:pPr algn="ctr">
              <a:lnSpc>
                <a:spcPts val="11480"/>
              </a:lnSpc>
            </a:pPr>
            <a:r>
              <a:rPr lang="en-US" sz="8200">
                <a:solidFill>
                  <a:srgbClr val="000000"/>
                </a:solidFill>
                <a:latin typeface="Times New Roman Bold"/>
                <a:ea typeface="Times New Roman Bold"/>
                <a:cs typeface="Times New Roman Bold"/>
                <a:sym typeface="Times New Roman Bold"/>
              </a:rPr>
              <a:t>APPLICATION DESCRIPTION</a:t>
            </a:r>
          </a:p>
        </p:txBody>
      </p:sp>
      <p:sp>
        <p:nvSpPr>
          <p:cNvPr id="3" name="TextBox 3"/>
          <p:cNvSpPr txBox="1"/>
          <p:nvPr/>
        </p:nvSpPr>
        <p:spPr>
          <a:xfrm>
            <a:off x="383288" y="2966418"/>
            <a:ext cx="17521424" cy="5141257"/>
          </a:xfrm>
          <a:prstGeom prst="rect">
            <a:avLst/>
          </a:prstGeom>
        </p:spPr>
        <p:txBody>
          <a:bodyPr lIns="0" tIns="0" rIns="0" bIns="0" rtlCol="0" anchor="t">
            <a:spAutoFit/>
          </a:bodyPr>
          <a:lstStyle/>
          <a:p>
            <a:pPr algn="just">
              <a:lnSpc>
                <a:spcPts val="5643"/>
              </a:lnSpc>
            </a:pPr>
            <a:r>
              <a:rPr lang="en-US" sz="4031" dirty="0">
                <a:solidFill>
                  <a:srgbClr val="000000"/>
                </a:solidFill>
                <a:latin typeface="Times New Roman"/>
                <a:ea typeface="Times New Roman"/>
                <a:cs typeface="Times New Roman"/>
                <a:sym typeface="Times New Roman"/>
              </a:rPr>
              <a:t>Faculty Time Table Management  System is a web-based application developed using PHP, CSS, and JavaScript. Talking about the project, it contains an admin side from where a user can manage all the timetables and records easily. The Admin plays an important role in the management of this system.</a:t>
            </a:r>
          </a:p>
          <a:p>
            <a:pPr algn="just">
              <a:lnSpc>
                <a:spcPts val="5643"/>
              </a:lnSpc>
            </a:pPr>
            <a:r>
              <a:rPr lang="en-US" sz="4031" dirty="0">
                <a:solidFill>
                  <a:srgbClr val="000000"/>
                </a:solidFill>
                <a:latin typeface="Times New Roman"/>
                <a:ea typeface="Times New Roman"/>
                <a:cs typeface="Times New Roman"/>
                <a:sym typeface="Times New Roman"/>
              </a:rPr>
              <a:t> To run this project you must have installed virtual server </a:t>
            </a:r>
            <a:r>
              <a:rPr lang="en-US" sz="4031" dirty="0" err="1">
                <a:solidFill>
                  <a:srgbClr val="000000"/>
                </a:solidFill>
                <a:latin typeface="Times New Roman"/>
                <a:ea typeface="Times New Roman"/>
                <a:cs typeface="Times New Roman"/>
                <a:sym typeface="Times New Roman"/>
              </a:rPr>
              <a:t>i.e</a:t>
            </a:r>
            <a:r>
              <a:rPr lang="en-US" sz="4031" dirty="0">
                <a:solidFill>
                  <a:srgbClr val="000000"/>
                </a:solidFill>
                <a:latin typeface="Times New Roman"/>
                <a:ea typeface="Times New Roman"/>
                <a:cs typeface="Times New Roman"/>
                <a:sym typeface="Times New Roman"/>
              </a:rPr>
              <a:t> </a:t>
            </a:r>
            <a:r>
              <a:rPr lang="en-US" sz="4031" u="sng" dirty="0">
                <a:solidFill>
                  <a:srgbClr val="000000"/>
                </a:solidFill>
                <a:latin typeface="Times New Roman"/>
                <a:ea typeface="Times New Roman"/>
                <a:cs typeface="Times New Roman"/>
                <a:sym typeface="Times New Roman"/>
                <a:hlinkClick r:id="rId2" tooltip="https://www.apachefriends.org/download_success.html"/>
              </a:rPr>
              <a:t>XAMPP</a:t>
            </a:r>
            <a:r>
              <a:rPr lang="en-US" sz="4031" dirty="0">
                <a:solidFill>
                  <a:srgbClr val="000000"/>
                </a:solidFill>
                <a:latin typeface="Times New Roman"/>
                <a:ea typeface="Times New Roman"/>
                <a:cs typeface="Times New Roman"/>
                <a:sym typeface="Times New Roman"/>
              </a:rPr>
              <a:t> on your PC (for Windows)</a:t>
            </a:r>
          </a:p>
          <a:p>
            <a:pPr algn="just">
              <a:lnSpc>
                <a:spcPts val="6284"/>
              </a:lnSpc>
            </a:pPr>
            <a:endParaRPr lang="en-US" sz="403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EFE"/>
        </a:solidFill>
        <a:effectLst/>
      </p:bgPr>
    </p:bg>
    <p:spTree>
      <p:nvGrpSpPr>
        <p:cNvPr id="1" name=""/>
        <p:cNvGrpSpPr/>
        <p:nvPr/>
      </p:nvGrpSpPr>
      <p:grpSpPr>
        <a:xfrm>
          <a:off x="0" y="0"/>
          <a:ext cx="0" cy="0"/>
          <a:chOff x="0" y="0"/>
          <a:chExt cx="0" cy="0"/>
        </a:xfrm>
      </p:grpSpPr>
      <p:sp>
        <p:nvSpPr>
          <p:cNvPr id="2" name="TextBox 2"/>
          <p:cNvSpPr txBox="1"/>
          <p:nvPr/>
        </p:nvSpPr>
        <p:spPr>
          <a:xfrm>
            <a:off x="4137796" y="676275"/>
            <a:ext cx="8240316" cy="1747519"/>
          </a:xfrm>
          <a:prstGeom prst="rect">
            <a:avLst/>
          </a:prstGeom>
        </p:spPr>
        <p:txBody>
          <a:bodyPr lIns="0" tIns="0" rIns="0" bIns="0" rtlCol="0" anchor="t">
            <a:spAutoFit/>
          </a:bodyPr>
          <a:lstStyle/>
          <a:p>
            <a:pPr algn="ctr">
              <a:lnSpc>
                <a:spcPts val="12880"/>
              </a:lnSpc>
            </a:pPr>
            <a:r>
              <a:rPr lang="en-US" sz="9200">
                <a:solidFill>
                  <a:srgbClr val="000000"/>
                </a:solidFill>
                <a:latin typeface="Times New Roman Bold"/>
                <a:ea typeface="Times New Roman Bold"/>
                <a:cs typeface="Times New Roman Bold"/>
                <a:sym typeface="Times New Roman Bold"/>
              </a:rPr>
              <a:t>CONCLUSION</a:t>
            </a:r>
          </a:p>
        </p:txBody>
      </p:sp>
      <p:sp>
        <p:nvSpPr>
          <p:cNvPr id="3" name="TextBox 3"/>
          <p:cNvSpPr txBox="1"/>
          <p:nvPr/>
        </p:nvSpPr>
        <p:spPr>
          <a:xfrm>
            <a:off x="514350" y="2736738"/>
            <a:ext cx="17259300" cy="5787033"/>
          </a:xfrm>
          <a:prstGeom prst="rect">
            <a:avLst/>
          </a:prstGeom>
        </p:spPr>
        <p:txBody>
          <a:bodyPr lIns="0" tIns="0" rIns="0" bIns="0" rtlCol="0" anchor="t">
            <a:spAutoFit/>
          </a:bodyPr>
          <a:lstStyle/>
          <a:p>
            <a:pPr algn="just">
              <a:lnSpc>
                <a:spcPts val="5681"/>
              </a:lnSpc>
            </a:pPr>
            <a:r>
              <a:rPr lang="en-US" sz="4058" dirty="0">
                <a:solidFill>
                  <a:srgbClr val="000000"/>
                </a:solidFill>
                <a:latin typeface="Times New Roman"/>
                <a:ea typeface="Times New Roman"/>
                <a:cs typeface="Times New Roman"/>
                <a:sym typeface="Times New Roman"/>
              </a:rPr>
              <a:t>The Faculty Time Table Monitoring System (FTTMS) is a tool that helps colleges manage their schedules more easily. It automatically creates timetables, sends out updates when schedules change, and works well with existing systems. It makes sure teaching tasks are shared fairly, allows teachers and administrators to quickly adjust schedules, and improves communication. By reducing mistakes and conflicts, FTTMS makes scheduling more efficient and helps teachers use their time better. Overall, it simplifies the scheduling process and makes it more transparent for everyone involved.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438</Words>
  <Application>Microsoft Office PowerPoint</Application>
  <PresentationFormat>Custom</PresentationFormat>
  <Paragraphs>59</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Krabuler</vt:lpstr>
      <vt:lpstr>Times New Roman</vt:lpstr>
      <vt:lpstr>Arial</vt:lpstr>
      <vt:lpstr>Calibri</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AD-1</dc:title>
  <dc:creator>MUKESH ANNAPURAM</dc:creator>
  <cp:lastModifiedBy>MUKESH ANNAPURAM</cp:lastModifiedBy>
  <cp:revision>7</cp:revision>
  <dcterms:created xsi:type="dcterms:W3CDTF">2006-08-16T00:00:00Z</dcterms:created>
  <dcterms:modified xsi:type="dcterms:W3CDTF">2024-08-21T06:48:01Z</dcterms:modified>
  <dc:identifier>DAGNpDIM0z4</dc:identifier>
</cp:coreProperties>
</file>